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803" r:id="rId2"/>
    <p:sldId id="833" r:id="rId3"/>
    <p:sldId id="824" r:id="rId4"/>
    <p:sldId id="828" r:id="rId5"/>
    <p:sldId id="805" r:id="rId6"/>
    <p:sldId id="829" r:id="rId7"/>
    <p:sldId id="832" r:id="rId8"/>
    <p:sldId id="830" r:id="rId9"/>
    <p:sldId id="8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95150F-8274-8145-9950-A8726EDED279}" v="3" dt="2026-03-28T05:15:22.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77" autoAdjust="0"/>
    <p:restoredTop sz="94670"/>
  </p:normalViewPr>
  <p:slideViewPr>
    <p:cSldViewPr snapToGrid="0">
      <p:cViewPr varScale="1">
        <p:scale>
          <a:sx n="106" d="100"/>
          <a:sy n="106" d="100"/>
        </p:scale>
        <p:origin x="192" y="24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50" d="100"/>
          <a:sy n="150" d="100"/>
        </p:scale>
        <p:origin x="432" y="-14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4CAE8-38D5-461C-80C4-1AF2B758DADD}" type="datetimeFigureOut">
              <a:rPr lang="en-IN" smtClean="0"/>
              <a:t>28/03/26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8D782-C295-45AF-8CC4-5EB981288A9F}" type="slidenum">
              <a:rPr lang="en-IN" smtClean="0"/>
              <a:t>‹#›</a:t>
            </a:fld>
            <a:endParaRPr lang="en-IN"/>
          </a:p>
        </p:txBody>
      </p:sp>
    </p:spTree>
    <p:extLst>
      <p:ext uri="{BB962C8B-B14F-4D97-AF65-F5344CB8AC3E}">
        <p14:creationId xmlns:p14="http://schemas.microsoft.com/office/powerpoint/2010/main" val="226258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BD5BB5-C395-2DF8-D539-36737393B670}"/>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2FFC9B4-4278-A514-C0A7-72EAAC723E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a:extLst>
              <a:ext uri="{FF2B5EF4-FFF2-40B4-BE49-F238E27FC236}">
                <a16:creationId xmlns:a16="http://schemas.microsoft.com/office/drawing/2014/main" id="{C8FFAD72-5149-46B7-A20E-DF4F96DE0E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a:extLst>
              <a:ext uri="{FF2B5EF4-FFF2-40B4-BE49-F238E27FC236}">
                <a16:creationId xmlns:a16="http://schemas.microsoft.com/office/drawing/2014/main" id="{A97F5C20-8BAD-CE9B-4D38-1CF55F7253B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4168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FF4B-C04A-07B0-094D-86746B3EF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1CDF-21A0-9FEC-2F88-3F16669D6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E9D5F-C289-EA26-CF8B-CB52EFE4BF14}"/>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D317C9EC-3730-8AE2-FDAB-25DFF0B1E5DD}"/>
              </a:ext>
            </a:extLst>
          </p:cNvPr>
          <p:cNvSpPr>
            <a:spLocks noGrp="1"/>
          </p:cNvSpPr>
          <p:nvPr>
            <p:ph type="sldNum" sz="quarter" idx="5"/>
          </p:nvPr>
        </p:nvSpPr>
        <p:spPr/>
        <p:txBody>
          <a:bodyPr/>
          <a:lstStyle/>
          <a:p>
            <a:fld id="{D188D782-C295-45AF-8CC4-5EB981288A9F}" type="slidenum">
              <a:rPr lang="en-IN" smtClean="0"/>
              <a:t>2</a:t>
            </a:fld>
            <a:endParaRPr lang="en-IN"/>
          </a:p>
        </p:txBody>
      </p:sp>
    </p:spTree>
    <p:extLst>
      <p:ext uri="{BB962C8B-B14F-4D97-AF65-F5344CB8AC3E}">
        <p14:creationId xmlns:p14="http://schemas.microsoft.com/office/powerpoint/2010/main" val="2085212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p:cNvSpPr>
            <a:spLocks noGrp="1"/>
          </p:cNvSpPr>
          <p:nvPr>
            <p:ph type="sldNum" sz="quarter" idx="5"/>
          </p:nvPr>
        </p:nvSpPr>
        <p:spPr/>
        <p:txBody>
          <a:bodyPr/>
          <a:lstStyle/>
          <a:p>
            <a:fld id="{D188D782-C295-45AF-8CC4-5EB981288A9F}" type="slidenum">
              <a:rPr lang="en-IN" smtClean="0"/>
              <a:t>3</a:t>
            </a:fld>
            <a:endParaRPr lang="en-IN"/>
          </a:p>
        </p:txBody>
      </p:sp>
    </p:spTree>
    <p:extLst>
      <p:ext uri="{BB962C8B-B14F-4D97-AF65-F5344CB8AC3E}">
        <p14:creationId xmlns:p14="http://schemas.microsoft.com/office/powerpoint/2010/main" val="1291075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90FE-2DE2-387C-625F-AACE3FD7F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0BB5F-7193-254E-6D58-C49599CA3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2A11E-0DFC-17FB-02F1-F2832FBB449F}"/>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BD0B4184-A693-CBEB-6603-80242D92BF4A}"/>
              </a:ext>
            </a:extLst>
          </p:cNvPr>
          <p:cNvSpPr>
            <a:spLocks noGrp="1"/>
          </p:cNvSpPr>
          <p:nvPr>
            <p:ph type="sldNum" sz="quarter" idx="5"/>
          </p:nvPr>
        </p:nvSpPr>
        <p:spPr/>
        <p:txBody>
          <a:bodyPr/>
          <a:lstStyle/>
          <a:p>
            <a:fld id="{D188D782-C295-45AF-8CC4-5EB981288A9F}" type="slidenum">
              <a:rPr lang="en-IN" smtClean="0"/>
              <a:t>4</a:t>
            </a:fld>
            <a:endParaRPr lang="en-IN"/>
          </a:p>
        </p:txBody>
      </p:sp>
    </p:spTree>
    <p:extLst>
      <p:ext uri="{BB962C8B-B14F-4D97-AF65-F5344CB8AC3E}">
        <p14:creationId xmlns:p14="http://schemas.microsoft.com/office/powerpoint/2010/main" val="360739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p:cNvSpPr>
            <a:spLocks noGrp="1"/>
          </p:cNvSpPr>
          <p:nvPr>
            <p:ph type="sldNum" sz="quarter" idx="5"/>
          </p:nvPr>
        </p:nvSpPr>
        <p:spPr/>
        <p:txBody>
          <a:bodyPr/>
          <a:lstStyle/>
          <a:p>
            <a:fld id="{D188D782-C295-45AF-8CC4-5EB981288A9F}" type="slidenum">
              <a:rPr lang="en-IN" smtClean="0"/>
              <a:t>5</a:t>
            </a:fld>
            <a:endParaRPr lang="en-IN"/>
          </a:p>
        </p:txBody>
      </p:sp>
    </p:spTree>
    <p:extLst>
      <p:ext uri="{BB962C8B-B14F-4D97-AF65-F5344CB8AC3E}">
        <p14:creationId xmlns:p14="http://schemas.microsoft.com/office/powerpoint/2010/main" val="156359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F895-5022-38DA-2054-0C369F380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18D03-72B5-B7EA-E56D-FEE96073D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B98BE-F9C6-D5BF-E732-2895FF121AB5}"/>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8D7E643-4F9A-B030-FD04-51F4A8BA2648}"/>
              </a:ext>
            </a:extLst>
          </p:cNvPr>
          <p:cNvSpPr>
            <a:spLocks noGrp="1"/>
          </p:cNvSpPr>
          <p:nvPr>
            <p:ph type="sldNum" sz="quarter" idx="5"/>
          </p:nvPr>
        </p:nvSpPr>
        <p:spPr/>
        <p:txBody>
          <a:bodyPr/>
          <a:lstStyle/>
          <a:p>
            <a:fld id="{D188D782-C295-45AF-8CC4-5EB981288A9F}" type="slidenum">
              <a:rPr lang="en-IN" smtClean="0"/>
              <a:t>6</a:t>
            </a:fld>
            <a:endParaRPr lang="en-IN"/>
          </a:p>
        </p:txBody>
      </p:sp>
    </p:spTree>
    <p:extLst>
      <p:ext uri="{BB962C8B-B14F-4D97-AF65-F5344CB8AC3E}">
        <p14:creationId xmlns:p14="http://schemas.microsoft.com/office/powerpoint/2010/main" val="1612106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B7A1-F227-707B-7BDC-D8504321C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2DB9F-8180-6707-CF03-AF3179783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06CB4-CBD8-AEBB-903A-0350DDF74BED}"/>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7B16E92-3E9E-2C9C-DCEB-A027251CFED9}"/>
              </a:ext>
            </a:extLst>
          </p:cNvPr>
          <p:cNvSpPr>
            <a:spLocks noGrp="1"/>
          </p:cNvSpPr>
          <p:nvPr>
            <p:ph type="sldNum" sz="quarter" idx="5"/>
          </p:nvPr>
        </p:nvSpPr>
        <p:spPr/>
        <p:txBody>
          <a:bodyPr/>
          <a:lstStyle/>
          <a:p>
            <a:fld id="{D188D782-C295-45AF-8CC4-5EB981288A9F}" type="slidenum">
              <a:rPr lang="en-IN" smtClean="0"/>
              <a:t>7</a:t>
            </a:fld>
            <a:endParaRPr lang="en-IN"/>
          </a:p>
        </p:txBody>
      </p:sp>
    </p:spTree>
    <p:extLst>
      <p:ext uri="{BB962C8B-B14F-4D97-AF65-F5344CB8AC3E}">
        <p14:creationId xmlns:p14="http://schemas.microsoft.com/office/powerpoint/2010/main" val="1956087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D362-4CC2-1D7D-5B37-272761D9F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E08CF-FFD7-C7F1-F7C9-8C0198C9E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2D4EC-36D9-9636-CD33-D59AAB049B84}"/>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540B67E4-279A-3BB1-BEE4-9C8B181D0A7F}"/>
              </a:ext>
            </a:extLst>
          </p:cNvPr>
          <p:cNvSpPr>
            <a:spLocks noGrp="1"/>
          </p:cNvSpPr>
          <p:nvPr>
            <p:ph type="sldNum" sz="quarter" idx="5"/>
          </p:nvPr>
        </p:nvSpPr>
        <p:spPr/>
        <p:txBody>
          <a:bodyPr/>
          <a:lstStyle/>
          <a:p>
            <a:fld id="{D188D782-C295-45AF-8CC4-5EB981288A9F}" type="slidenum">
              <a:rPr lang="en-IN" smtClean="0"/>
              <a:t>8</a:t>
            </a:fld>
            <a:endParaRPr lang="en-IN"/>
          </a:p>
        </p:txBody>
      </p:sp>
    </p:spTree>
    <p:extLst>
      <p:ext uri="{BB962C8B-B14F-4D97-AF65-F5344CB8AC3E}">
        <p14:creationId xmlns:p14="http://schemas.microsoft.com/office/powerpoint/2010/main" val="421619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86D0-C302-35A2-A260-3CDD14B6E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58981-14D0-7908-694C-4FDB3C4F9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4AD2F-6AE3-A62A-2AF4-C18F91CE5AEB}"/>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44B14A88-FC08-9C8A-7686-6A2CB491B6DC}"/>
              </a:ext>
            </a:extLst>
          </p:cNvPr>
          <p:cNvSpPr>
            <a:spLocks noGrp="1"/>
          </p:cNvSpPr>
          <p:nvPr>
            <p:ph type="sldNum" sz="quarter" idx="5"/>
          </p:nvPr>
        </p:nvSpPr>
        <p:spPr/>
        <p:txBody>
          <a:bodyPr/>
          <a:lstStyle/>
          <a:p>
            <a:fld id="{D188D782-C295-45AF-8CC4-5EB981288A9F}" type="slidenum">
              <a:rPr lang="en-IN" smtClean="0"/>
              <a:t>9</a:t>
            </a:fld>
            <a:endParaRPr lang="en-IN"/>
          </a:p>
        </p:txBody>
      </p:sp>
    </p:spTree>
    <p:extLst>
      <p:ext uri="{BB962C8B-B14F-4D97-AF65-F5344CB8AC3E}">
        <p14:creationId xmlns:p14="http://schemas.microsoft.com/office/powerpoint/2010/main" val="24992034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White">
  <p:cSld name="Cover White">
    <p:spTree>
      <p:nvGrpSpPr>
        <p:cNvPr id="1" name="Shape 15"/>
        <p:cNvGrpSpPr/>
        <p:nvPr/>
      </p:nvGrpSpPr>
      <p:grpSpPr>
        <a:xfrm>
          <a:off x="0" y="0"/>
          <a:ext cx="0" cy="0"/>
          <a:chOff x="0" y="0"/>
          <a:chExt cx="0" cy="0"/>
        </a:xfrm>
      </p:grpSpPr>
      <p:pic>
        <p:nvPicPr>
          <p:cNvPr id="16" name="Google Shape;16;p2" descr="C:\Users\Admin\Downloads\ilovepdf_pages-to-jpg (1)\RU_PPT Template-White Blank_page-0001.jpg"/>
          <p:cNvPicPr preferRelativeResize="0"/>
          <p:nvPr/>
        </p:nvPicPr>
        <p:blipFill rotWithShape="1">
          <a:blip r:embed="rId2">
            <a:alphaModFix/>
          </a:blip>
          <a:srcRect/>
          <a:stretch/>
        </p:blipFill>
        <p:spPr>
          <a:xfrm>
            <a:off x="-1" y="0"/>
            <a:ext cx="12193191" cy="6858000"/>
          </a:xfrm>
          <a:prstGeom prst="rect">
            <a:avLst/>
          </a:prstGeom>
          <a:noFill/>
          <a:ln>
            <a:noFill/>
          </a:ln>
        </p:spPr>
      </p:pic>
      <p:sp>
        <p:nvSpPr>
          <p:cNvPr id="17" name="Google Shape;17;p2"/>
          <p:cNvSpPr/>
          <p:nvPr/>
        </p:nvSpPr>
        <p:spPr>
          <a:xfrm>
            <a:off x="685800" y="58801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8" name="Google Shape;18;p2"/>
          <p:cNvSpPr/>
          <p:nvPr/>
        </p:nvSpPr>
        <p:spPr>
          <a:xfrm>
            <a:off x="8769350" y="54864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grpSp>
        <p:nvGrpSpPr>
          <p:cNvPr id="19" name="Google Shape;19;p2"/>
          <p:cNvGrpSpPr/>
          <p:nvPr/>
        </p:nvGrpSpPr>
        <p:grpSpPr>
          <a:xfrm>
            <a:off x="9220200" y="5410200"/>
            <a:ext cx="2601503" cy="1082742"/>
            <a:chOff x="10616154" y="97913"/>
            <a:chExt cx="3619726" cy="1349912"/>
          </a:xfrm>
        </p:grpSpPr>
        <p:pic>
          <p:nvPicPr>
            <p:cNvPr id="20" name="Google Shape;20;p2" descr="NIRF — SAVEETHA SCHOOL OF MANAGEMENT"/>
            <p:cNvPicPr preferRelativeResize="0"/>
            <p:nvPr/>
          </p:nvPicPr>
          <p:blipFill rotWithShape="1">
            <a:blip r:embed="rId3">
              <a:alphaModFix/>
            </a:blip>
            <a:srcRect l="27517" t="4377" r="28920" b="7151"/>
            <a:stretch/>
          </p:blipFill>
          <p:spPr>
            <a:xfrm>
              <a:off x="12122688" y="97913"/>
              <a:ext cx="843474" cy="592257"/>
            </a:xfrm>
            <a:prstGeom prst="rect">
              <a:avLst/>
            </a:prstGeom>
            <a:noFill/>
            <a:ln>
              <a:noFill/>
            </a:ln>
          </p:spPr>
        </p:pic>
        <p:pic>
          <p:nvPicPr>
            <p:cNvPr id="21" name="Google Shape;21;p2" descr="Bharath University - Top University In India"/>
            <p:cNvPicPr preferRelativeResize="0"/>
            <p:nvPr/>
          </p:nvPicPr>
          <p:blipFill rotWithShape="1">
            <a:blip r:embed="rId4">
              <a:alphaModFix/>
            </a:blip>
            <a:srcRect/>
            <a:stretch/>
          </p:blipFill>
          <p:spPr>
            <a:xfrm>
              <a:off x="10737939" y="182966"/>
              <a:ext cx="1158298" cy="430887"/>
            </a:xfrm>
            <a:prstGeom prst="rect">
              <a:avLst/>
            </a:prstGeom>
            <a:noFill/>
            <a:ln>
              <a:noFill/>
            </a:ln>
          </p:spPr>
        </p:pic>
        <p:pic>
          <p:nvPicPr>
            <p:cNvPr id="22" name="Google Shape;22;p2" descr="CREDISAPP for Ratings - Eloit"/>
            <p:cNvPicPr preferRelativeResize="0"/>
            <p:nvPr/>
          </p:nvPicPr>
          <p:blipFill rotWithShape="1">
            <a:blip r:embed="rId5">
              <a:alphaModFix/>
            </a:blip>
            <a:srcRect/>
            <a:stretch/>
          </p:blipFill>
          <p:spPr>
            <a:xfrm>
              <a:off x="13072901" y="114292"/>
              <a:ext cx="1155067" cy="575878"/>
            </a:xfrm>
            <a:prstGeom prst="rect">
              <a:avLst/>
            </a:prstGeom>
            <a:noFill/>
            <a:ln>
              <a:noFill/>
            </a:ln>
          </p:spPr>
        </p:pic>
        <p:pic>
          <p:nvPicPr>
            <p:cNvPr id="23" name="Google Shape;23;p2" descr="MHRD | Innovation Cell - Home"/>
            <p:cNvPicPr preferRelativeResize="0"/>
            <p:nvPr/>
          </p:nvPicPr>
          <p:blipFill rotWithShape="1">
            <a:blip r:embed="rId6">
              <a:alphaModFix/>
            </a:blip>
            <a:srcRect/>
            <a:stretch/>
          </p:blipFill>
          <p:spPr>
            <a:xfrm>
              <a:off x="10616154" y="789734"/>
              <a:ext cx="1857797" cy="658091"/>
            </a:xfrm>
            <a:prstGeom prst="rect">
              <a:avLst/>
            </a:prstGeom>
            <a:noFill/>
            <a:ln>
              <a:noFill/>
            </a:ln>
          </p:spPr>
        </p:pic>
        <p:pic>
          <p:nvPicPr>
            <p:cNvPr id="24" name="Google Shape;24;p2" descr="Institution's Innovation Council | MHRD"/>
            <p:cNvPicPr preferRelativeResize="0"/>
            <p:nvPr/>
          </p:nvPicPr>
          <p:blipFill rotWithShape="1">
            <a:blip r:embed="rId7">
              <a:alphaModFix/>
            </a:blip>
            <a:srcRect l="8879" t="20720" r="8879" b="24345"/>
            <a:stretch/>
          </p:blipFill>
          <p:spPr>
            <a:xfrm>
              <a:off x="12886182" y="774201"/>
              <a:ext cx="1349698" cy="637584"/>
            </a:xfrm>
            <a:prstGeom prst="rect">
              <a:avLst/>
            </a:prstGeom>
            <a:noFill/>
            <a:ln>
              <a:noFill/>
            </a:ln>
          </p:spPr>
        </p:pic>
      </p:grpSp>
      <p:sp>
        <p:nvSpPr>
          <p:cNvPr id="25" name="Google Shape;25;p2"/>
          <p:cNvSpPr txBox="1">
            <a:spLocks noGrp="1"/>
          </p:cNvSpPr>
          <p:nvPr>
            <p:ph type="title"/>
          </p:nvPr>
        </p:nvSpPr>
        <p:spPr>
          <a:xfrm>
            <a:off x="1058553" y="3124200"/>
            <a:ext cx="8421823" cy="175009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FF6600"/>
              </a:buClr>
              <a:buSzPts val="4000"/>
              <a:buFont typeface="Roboto Medium"/>
              <a:buNone/>
              <a:defRPr sz="4000" b="0" i="0" u="none" strike="noStrike" cap="none">
                <a:solidFill>
                  <a:srgbClr val="FF6600"/>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
          <p:cNvSpPr txBox="1">
            <a:spLocks noGrp="1"/>
          </p:cNvSpPr>
          <p:nvPr>
            <p:ph type="body" idx="1"/>
          </p:nvPr>
        </p:nvSpPr>
        <p:spPr>
          <a:xfrm>
            <a:off x="1046572" y="5129788"/>
            <a:ext cx="6755716" cy="407987"/>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FF6600"/>
              </a:buClr>
              <a:buSzPts val="2500"/>
              <a:buFont typeface="Arial"/>
              <a:buNone/>
              <a:defRPr sz="2500" b="0" i="0" u="none" strike="noStrike" cap="none">
                <a:solidFill>
                  <a:srgbClr val="FF6600"/>
                </a:solidFill>
                <a:latin typeface="Roboto Medium"/>
                <a:ea typeface="Roboto Medium"/>
                <a:cs typeface="Roboto Medium"/>
                <a:sym typeface="Roboto Medium"/>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621859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White">
  <p:cSld name="Agenda White">
    <p:bg>
      <p:bgPr>
        <a:solidFill>
          <a:schemeClr val="lt1"/>
        </a:solidFill>
        <a:effectLst/>
      </p:bgPr>
    </p:bg>
    <p:spTree>
      <p:nvGrpSpPr>
        <p:cNvPr id="1" name="Shape 27"/>
        <p:cNvGrpSpPr/>
        <p:nvPr/>
      </p:nvGrpSpPr>
      <p:grpSpPr>
        <a:xfrm>
          <a:off x="0" y="0"/>
          <a:ext cx="0" cy="0"/>
          <a:chOff x="0" y="0"/>
          <a:chExt cx="0" cy="0"/>
        </a:xfrm>
      </p:grpSpPr>
      <p:pic>
        <p:nvPicPr>
          <p:cNvPr id="28" name="Google Shape;28;p3" descr="C:\Users\Admin\Downloads\ilovepdf_pages-to-jpg (3)\RU_PPT Template-White Blank (1)_page-0003.jpg"/>
          <p:cNvPicPr preferRelativeResize="0"/>
          <p:nvPr/>
        </p:nvPicPr>
        <p:blipFill rotWithShape="1">
          <a:blip r:embed="rId2">
            <a:alphaModFix/>
          </a:blip>
          <a:srcRect/>
          <a:stretch/>
        </p:blipFill>
        <p:spPr>
          <a:xfrm>
            <a:off x="0" y="0"/>
            <a:ext cx="12192000" cy="6857330"/>
          </a:xfrm>
          <a:prstGeom prst="rect">
            <a:avLst/>
          </a:prstGeom>
          <a:noFill/>
          <a:ln>
            <a:noFill/>
          </a:ln>
        </p:spPr>
      </p:pic>
      <p:sp>
        <p:nvSpPr>
          <p:cNvPr id="29" name="Google Shape;29;p3"/>
          <p:cNvSpPr txBox="1">
            <a:spLocks noGrp="1"/>
          </p:cNvSpPr>
          <p:nvPr>
            <p:ph type="sldNum" idx="12"/>
          </p:nvPr>
        </p:nvSpPr>
        <p:spPr>
          <a:xfrm>
            <a:off x="11367146" y="6096000"/>
            <a:ext cx="596254" cy="365125"/>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1pPr>
            <a:lvl2pPr marL="0" marR="0" lvl="1"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2pPr>
            <a:lvl3pPr marL="0" marR="0" lvl="2"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3pPr>
            <a:lvl4pPr marL="0" marR="0" lvl="3"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4pPr>
            <a:lvl5pPr marL="0" marR="0" lvl="4"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5pPr>
            <a:lvl6pPr marL="0" marR="0" lvl="5"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6pPr>
            <a:lvl7pPr marL="0" marR="0" lvl="6"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7pPr>
            <a:lvl8pPr marL="0" marR="0" lvl="7"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8pPr>
            <a:lvl9pPr marL="0" marR="0" lvl="8"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9pPr>
          </a:lstStyle>
          <a:p>
            <a:pPr marL="0" lvl="0" indent="0" algn="ctr" rtl="0">
              <a:spcBef>
                <a:spcPts val="0"/>
              </a:spcBef>
              <a:spcAft>
                <a:spcPts val="0"/>
              </a:spcAft>
              <a:buNone/>
            </a:pPr>
            <a:fld id="{00000000-1234-1234-1234-123412341234}" type="slidenum">
              <a:rPr lang="en-US"/>
              <a:t>‹#›</a:t>
            </a:fld>
            <a:endParaRPr/>
          </a:p>
        </p:txBody>
      </p:sp>
      <p:sp>
        <p:nvSpPr>
          <p:cNvPr id="30" name="Google Shape;30;p3"/>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7F7F7F"/>
              </a:buClr>
              <a:buSzPts val="2800"/>
              <a:buFont typeface="Roboto Medium"/>
              <a:buNone/>
              <a:defRPr sz="2800" b="0" i="0" u="none" strike="noStrike" cap="none">
                <a:solidFill>
                  <a:srgbClr val="7F7F7F"/>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3"/>
          <p:cNvSpPr txBox="1">
            <a:spLocks noGrp="1"/>
          </p:cNvSpPr>
          <p:nvPr>
            <p:ph type="body" idx="1"/>
          </p:nvPr>
        </p:nvSpPr>
        <p:spPr>
          <a:xfrm>
            <a:off x="695400" y="1773936"/>
            <a:ext cx="10801201" cy="4320480"/>
          </a:xfrm>
          <a:prstGeom prst="rect">
            <a:avLst/>
          </a:prstGeom>
          <a:noFill/>
          <a:ln>
            <a:noFill/>
          </a:ln>
        </p:spPr>
        <p:txBody>
          <a:bodyPr spcFirstLastPara="1" wrap="square" lIns="91425" tIns="45700" rIns="91425" bIns="45700" anchor="t" anchorCtr="0">
            <a:noAutofit/>
          </a:bodyPr>
          <a:lstStyle>
            <a:lvl1pPr marL="457200" marR="0" lvl="0" indent="-381000" algn="l">
              <a:lnSpc>
                <a:spcPct val="90000"/>
              </a:lnSpc>
              <a:spcBef>
                <a:spcPts val="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1pPr>
            <a:lvl2pPr marL="914400" marR="0" lvl="1" indent="-381000" algn="l">
              <a:lnSpc>
                <a:spcPct val="90000"/>
              </a:lnSpc>
              <a:spcBef>
                <a:spcPts val="140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2pPr>
            <a:lvl3pPr marL="1371600" marR="0" lvl="2" indent="-228600" algn="l">
              <a:lnSpc>
                <a:spcPct val="90000"/>
              </a:lnSpc>
              <a:spcBef>
                <a:spcPts val="1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3pPr>
            <a:lvl4pPr marL="1828800" marR="0" lvl="3"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2286000" marR="0" lvl="4"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1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8722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2"/>
        <p:cNvGrpSpPr/>
        <p:nvPr/>
      </p:nvGrpSpPr>
      <p:grpSpPr>
        <a:xfrm>
          <a:off x="0" y="0"/>
          <a:ext cx="0" cy="0"/>
          <a:chOff x="0" y="0"/>
          <a:chExt cx="0" cy="0"/>
        </a:xfrm>
      </p:grpSpPr>
      <p:sp>
        <p:nvSpPr>
          <p:cNvPr id="33" name="Google Shape;33;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4293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1777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0922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8744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8110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sp>
        <p:nvSpPr>
          <p:cNvPr id="72" name="Google Shape;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69305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8" name="Google Shape;78;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0619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2"/>
          <p:cNvSpPr>
            <a:spLocks noGrp="1"/>
          </p:cNvSpPr>
          <p:nvPr>
            <p:ph type="pic" idx="2"/>
          </p:nvPr>
        </p:nvSpPr>
        <p:spPr>
          <a:xfrm>
            <a:off x="5183188" y="987425"/>
            <a:ext cx="6172200" cy="4873625"/>
          </a:xfrm>
          <a:prstGeom prst="rect">
            <a:avLst/>
          </a:prstGeom>
          <a:noFill/>
          <a:ln>
            <a:noFill/>
          </a:ln>
        </p:spPr>
      </p:sp>
      <p:sp>
        <p:nvSpPr>
          <p:cNvPr id="85" name="Google Shape;85;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6" name="Google Shape;8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7921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2287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2402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46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13773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7EB35E84-5960-AA15-D5D2-FCDA928FD2D3}"/>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0794CBDF-89DA-68F4-4998-89F67853C47F}"/>
              </a:ext>
            </a:extLst>
          </p:cNvPr>
          <p:cNvSpPr txBox="1"/>
          <p:nvPr/>
        </p:nvSpPr>
        <p:spPr>
          <a:xfrm>
            <a:off x="3510185" y="4344787"/>
            <a:ext cx="4750130" cy="92328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FarmTrace</a:t>
            </a:r>
            <a:endParaRPr kumimoji="0" sz="5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7" name="Google Shape;107;p15">
            <a:extLst>
              <a:ext uri="{FF2B5EF4-FFF2-40B4-BE49-F238E27FC236}">
                <a16:creationId xmlns:a16="http://schemas.microsoft.com/office/drawing/2014/main" id="{5715D715-9E59-BD2C-C8BA-7435D7135AF7}"/>
              </a:ext>
            </a:extLst>
          </p:cNvPr>
          <p:cNvSpPr txBox="1"/>
          <p:nvPr/>
        </p:nvSpPr>
        <p:spPr>
          <a:xfrm>
            <a:off x="1569910" y="2804655"/>
            <a:ext cx="9838762" cy="120028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School of Compu</a:t>
            </a:r>
            <a:r>
              <a:rPr lang="en-US" sz="3600" b="1" kern="0" dirty="0">
                <a:solidFill>
                  <a:srgbClr val="000000"/>
                </a:solidFill>
                <a:latin typeface="Times New Roman"/>
                <a:ea typeface="Times New Roman"/>
                <a:cs typeface="Times New Roman"/>
                <a:sym typeface="Times New Roman"/>
              </a:rPr>
              <a:t>ter Science &amp; Engineering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AI </a:t>
            </a:r>
            <a:r>
              <a:rPr kumimoji="0" lang="en-US" sz="3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Application Development – IA1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57260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35E7-678C-8AF0-B273-A067CA79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CF152-678E-EC39-589A-AFB6DAA8AF09}"/>
              </a:ext>
            </a:extLst>
          </p:cNvPr>
          <p:cNvSpPr>
            <a:spLocks noGrp="1"/>
          </p:cNvSpPr>
          <p:nvPr>
            <p:ph type="title"/>
          </p:nvPr>
        </p:nvSpPr>
        <p:spPr>
          <a:xfrm>
            <a:off x="695400" y="395786"/>
            <a:ext cx="7937961" cy="838202"/>
          </a:xfrm>
        </p:spPr>
        <p:txBody>
          <a:bodyPr/>
          <a:lstStyle/>
          <a:p>
            <a:r>
              <a:rPr lang="en-US" dirty="0">
                <a:ea typeface="Calibri"/>
                <a:cs typeface="Calibri"/>
              </a:rPr>
              <a:t>Team members &amp; roles</a:t>
            </a:r>
            <a:endParaRPr lang="en-US" dirty="0"/>
          </a:p>
        </p:txBody>
      </p:sp>
      <p:graphicFrame>
        <p:nvGraphicFramePr>
          <p:cNvPr id="5" name="Table 4">
            <a:extLst>
              <a:ext uri="{FF2B5EF4-FFF2-40B4-BE49-F238E27FC236}">
                <a16:creationId xmlns:a16="http://schemas.microsoft.com/office/drawing/2014/main" id="{99B32B5A-10EC-6646-EA6D-5E1131E433CE}"/>
              </a:ext>
            </a:extLst>
          </p:cNvPr>
          <p:cNvGraphicFramePr>
            <a:graphicFrameLocks noGrp="1"/>
          </p:cNvGraphicFramePr>
          <p:nvPr>
            <p:extLst>
              <p:ext uri="{D42A27DB-BD31-4B8C-83A1-F6EECF244321}">
                <p14:modId xmlns:p14="http://schemas.microsoft.com/office/powerpoint/2010/main" val="3737511291"/>
              </p:ext>
            </p:extLst>
          </p:nvPr>
        </p:nvGraphicFramePr>
        <p:xfrm>
          <a:off x="888999" y="1706254"/>
          <a:ext cx="8676105" cy="3310916"/>
        </p:xfrm>
        <a:graphic>
          <a:graphicData uri="http://schemas.openxmlformats.org/drawingml/2006/table">
            <a:tbl>
              <a:tblPr firstRow="1" bandRow="1">
                <a:tableStyleId>{5C22544A-7EE6-4342-B048-85BDC9FD1C3A}</a:tableStyleId>
              </a:tblPr>
              <a:tblGrid>
                <a:gridCol w="4368020">
                  <a:extLst>
                    <a:ext uri="{9D8B030D-6E8A-4147-A177-3AD203B41FA5}">
                      <a16:colId xmlns:a16="http://schemas.microsoft.com/office/drawing/2014/main" val="3378695941"/>
                    </a:ext>
                  </a:extLst>
                </a:gridCol>
                <a:gridCol w="4308085">
                  <a:extLst>
                    <a:ext uri="{9D8B030D-6E8A-4147-A177-3AD203B41FA5}">
                      <a16:colId xmlns:a16="http://schemas.microsoft.com/office/drawing/2014/main" val="485602826"/>
                    </a:ext>
                  </a:extLst>
                </a:gridCol>
              </a:tblGrid>
              <a:tr h="472988">
                <a:tc>
                  <a:txBody>
                    <a:bodyPr/>
                    <a:lstStyle/>
                    <a:p>
                      <a:r>
                        <a:rPr lang="en-US" sz="2000" dirty="0"/>
                        <a:t>TEAM MEMBER NAME</a:t>
                      </a:r>
                    </a:p>
                  </a:txBody>
                  <a:tcPr/>
                </a:tc>
                <a:tc>
                  <a:txBody>
                    <a:bodyPr/>
                    <a:lstStyle/>
                    <a:p>
                      <a:r>
                        <a:rPr lang="en-US" sz="2000" dirty="0"/>
                        <a:t>ROLE</a:t>
                      </a:r>
                    </a:p>
                  </a:txBody>
                  <a:tcPr/>
                </a:tc>
                <a:extLst>
                  <a:ext uri="{0D108BD9-81ED-4DB2-BD59-A6C34878D82A}">
                    <a16:rowId xmlns:a16="http://schemas.microsoft.com/office/drawing/2014/main" val="2771150875"/>
                  </a:ext>
                </a:extLst>
              </a:tr>
              <a:tr h="472988">
                <a:tc>
                  <a:txBody>
                    <a:bodyPr/>
                    <a:lstStyle/>
                    <a:p>
                      <a:r>
                        <a:rPr lang="en-US" sz="2000" dirty="0"/>
                        <a:t>NISHA YADAV</a:t>
                      </a:r>
                    </a:p>
                  </a:txBody>
                  <a:tcPr/>
                </a:tc>
                <a:tc>
                  <a:txBody>
                    <a:bodyPr/>
                    <a:lstStyle/>
                    <a:p>
                      <a:r>
                        <a:rPr lang="en-US" sz="2000" dirty="0"/>
                        <a:t>TEAM LEAD</a:t>
                      </a:r>
                    </a:p>
                  </a:txBody>
                  <a:tcPr/>
                </a:tc>
                <a:extLst>
                  <a:ext uri="{0D108BD9-81ED-4DB2-BD59-A6C34878D82A}">
                    <a16:rowId xmlns:a16="http://schemas.microsoft.com/office/drawing/2014/main" val="3317401748"/>
                  </a:ext>
                </a:extLst>
              </a:tr>
              <a:tr h="472988">
                <a:tc>
                  <a:txBody>
                    <a:bodyPr/>
                    <a:lstStyle/>
                    <a:p>
                      <a:r>
                        <a:rPr lang="en-US" sz="2000" dirty="0"/>
                        <a:t>SANJANA R</a:t>
                      </a:r>
                    </a:p>
                  </a:txBody>
                  <a:tcPr/>
                </a:tc>
                <a:tc>
                  <a:txBody>
                    <a:bodyPr/>
                    <a:lstStyle/>
                    <a:p>
                      <a:r>
                        <a:rPr lang="en-US" sz="2000" dirty="0"/>
                        <a:t>DEVELOPER</a:t>
                      </a:r>
                    </a:p>
                  </a:txBody>
                  <a:tcPr/>
                </a:tc>
                <a:extLst>
                  <a:ext uri="{0D108BD9-81ED-4DB2-BD59-A6C34878D82A}">
                    <a16:rowId xmlns:a16="http://schemas.microsoft.com/office/drawing/2014/main" val="2926371665"/>
                  </a:ext>
                </a:extLst>
              </a:tr>
              <a:tr h="472988">
                <a:tc>
                  <a:txBody>
                    <a:bodyPr/>
                    <a:lstStyle/>
                    <a:p>
                      <a:r>
                        <a:rPr lang="en-US" sz="2000" dirty="0"/>
                        <a:t>NAMEERA SANIYA</a:t>
                      </a:r>
                    </a:p>
                  </a:txBody>
                  <a:tcPr/>
                </a:tc>
                <a:tc>
                  <a:txBody>
                    <a:bodyPr/>
                    <a:lstStyle/>
                    <a:p>
                      <a:r>
                        <a:rPr lang="en-US" sz="2000" dirty="0"/>
                        <a:t>GITHUB/PRODUCT BUILD</a:t>
                      </a:r>
                    </a:p>
                  </a:txBody>
                  <a:tcPr/>
                </a:tc>
                <a:extLst>
                  <a:ext uri="{0D108BD9-81ED-4DB2-BD59-A6C34878D82A}">
                    <a16:rowId xmlns:a16="http://schemas.microsoft.com/office/drawing/2014/main" val="3200669484"/>
                  </a:ext>
                </a:extLst>
              </a:tr>
              <a:tr h="472988">
                <a:tc>
                  <a:txBody>
                    <a:bodyPr/>
                    <a:lstStyle/>
                    <a:p>
                      <a:r>
                        <a:rPr lang="en-US" sz="2000" dirty="0"/>
                        <a:t>RUHI SHARMA</a:t>
                      </a:r>
                    </a:p>
                  </a:txBody>
                  <a:tcPr/>
                </a:tc>
                <a:tc>
                  <a:txBody>
                    <a:bodyPr/>
                    <a:lstStyle/>
                    <a:p>
                      <a:r>
                        <a:rPr lang="en-US" sz="2000" dirty="0"/>
                        <a:t>DEVELOPMENT LEAD</a:t>
                      </a:r>
                    </a:p>
                  </a:txBody>
                  <a:tcPr/>
                </a:tc>
                <a:extLst>
                  <a:ext uri="{0D108BD9-81ED-4DB2-BD59-A6C34878D82A}">
                    <a16:rowId xmlns:a16="http://schemas.microsoft.com/office/drawing/2014/main" val="2476908824"/>
                  </a:ext>
                </a:extLst>
              </a:tr>
              <a:tr h="472988">
                <a:tc>
                  <a:txBody>
                    <a:bodyPr/>
                    <a:lstStyle/>
                    <a:p>
                      <a:r>
                        <a:rPr lang="en-US" sz="2000" dirty="0"/>
                        <a:t>MEGHANA U</a:t>
                      </a:r>
                    </a:p>
                  </a:txBody>
                  <a:tcPr/>
                </a:tc>
                <a:tc>
                  <a:txBody>
                    <a:bodyPr/>
                    <a:lstStyle/>
                    <a:p>
                      <a:r>
                        <a:rPr lang="en-US" sz="2000" dirty="0"/>
                        <a:t>TEST LEAD</a:t>
                      </a:r>
                    </a:p>
                  </a:txBody>
                  <a:tcPr/>
                </a:tc>
                <a:extLst>
                  <a:ext uri="{0D108BD9-81ED-4DB2-BD59-A6C34878D82A}">
                    <a16:rowId xmlns:a16="http://schemas.microsoft.com/office/drawing/2014/main" val="1634952001"/>
                  </a:ext>
                </a:extLst>
              </a:tr>
              <a:tr h="472988">
                <a:tc>
                  <a:txBody>
                    <a:bodyPr/>
                    <a:lstStyle/>
                    <a:p>
                      <a:r>
                        <a:rPr lang="en-US" sz="2000" dirty="0"/>
                        <a:t>SAGARIKA DS</a:t>
                      </a:r>
                    </a:p>
                  </a:txBody>
                  <a:tcPr/>
                </a:tc>
                <a:tc>
                  <a:txBody>
                    <a:bodyPr/>
                    <a:lstStyle/>
                    <a:p>
                      <a:r>
                        <a:rPr lang="en-US" sz="2000" dirty="0"/>
                        <a:t>CUSTOMER CONTACT LEAD</a:t>
                      </a:r>
                    </a:p>
                  </a:txBody>
                  <a:tcPr/>
                </a:tc>
                <a:extLst>
                  <a:ext uri="{0D108BD9-81ED-4DB2-BD59-A6C34878D82A}">
                    <a16:rowId xmlns:a16="http://schemas.microsoft.com/office/drawing/2014/main" val="631119704"/>
                  </a:ext>
                </a:extLst>
              </a:tr>
            </a:tbl>
          </a:graphicData>
        </a:graphic>
      </p:graphicFrame>
    </p:spTree>
    <p:extLst>
      <p:ext uri="{BB962C8B-B14F-4D97-AF65-F5344CB8AC3E}">
        <p14:creationId xmlns:p14="http://schemas.microsoft.com/office/powerpoint/2010/main" val="25949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5886C-2AC8-ED81-81E1-EB56CE95F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18B1A-D73F-F2F6-5303-A4369C417FF4}"/>
              </a:ext>
            </a:extLst>
          </p:cNvPr>
          <p:cNvSpPr>
            <a:spLocks noGrp="1"/>
          </p:cNvSpPr>
          <p:nvPr>
            <p:ph type="title"/>
          </p:nvPr>
        </p:nvSpPr>
        <p:spPr>
          <a:xfrm>
            <a:off x="695400" y="395786"/>
            <a:ext cx="7937961" cy="838202"/>
          </a:xfrm>
        </p:spPr>
        <p:txBody>
          <a:bodyPr/>
          <a:lstStyle/>
          <a:p>
            <a:r>
              <a:rPr lang="en-US" dirty="0">
                <a:ea typeface="Calibri"/>
                <a:cs typeface="Calibri"/>
              </a:rPr>
              <a:t> Modified Problem Statement</a:t>
            </a:r>
            <a:endParaRPr lang="en-US" dirty="0"/>
          </a:p>
        </p:txBody>
      </p:sp>
      <p:sp>
        <p:nvSpPr>
          <p:cNvPr id="3" name="Content Placeholder 2">
            <a:extLst>
              <a:ext uri="{FF2B5EF4-FFF2-40B4-BE49-F238E27FC236}">
                <a16:creationId xmlns:a16="http://schemas.microsoft.com/office/drawing/2014/main" id="{9D0C28EA-830E-81C1-7404-A72E3E5F5859}"/>
              </a:ext>
            </a:extLst>
          </p:cNvPr>
          <p:cNvSpPr>
            <a:spLocks noGrp="1"/>
          </p:cNvSpPr>
          <p:nvPr>
            <p:ph type="body" idx="1"/>
          </p:nvPr>
        </p:nvSpPr>
        <p:spPr>
          <a:xfrm>
            <a:off x="1004160" y="1595806"/>
            <a:ext cx="10519785" cy="3790386"/>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sz="2800" dirty="0">
                <a:solidFill>
                  <a:schemeClr val="tx1"/>
                </a:solidFill>
                <a:ea typeface="Calibri"/>
                <a:cs typeface="Calibri"/>
              </a:rPr>
              <a:t>Small-scale farmers in India cannot prove the origin or quality of their produce to buyers, resulting in lost income, broken trust, and limited market access due to the absence of affordable traceability tools.</a:t>
            </a: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p:txBody>
      </p:sp>
    </p:spTree>
    <p:extLst>
      <p:ext uri="{BB962C8B-B14F-4D97-AF65-F5344CB8AC3E}">
        <p14:creationId xmlns:p14="http://schemas.microsoft.com/office/powerpoint/2010/main" val="162132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14202-8164-A88E-0CA6-8593095CE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7E602-D398-31B9-4AEB-C32E61CFBBBC}"/>
              </a:ext>
            </a:extLst>
          </p:cNvPr>
          <p:cNvSpPr>
            <a:spLocks noGrp="1"/>
          </p:cNvSpPr>
          <p:nvPr>
            <p:ph type="title"/>
          </p:nvPr>
        </p:nvSpPr>
        <p:spPr>
          <a:xfrm>
            <a:off x="695400" y="395786"/>
            <a:ext cx="7937961" cy="838202"/>
          </a:xfrm>
        </p:spPr>
        <p:txBody>
          <a:bodyPr/>
          <a:lstStyle/>
          <a:p>
            <a:r>
              <a:rPr lang="en-US" dirty="0">
                <a:ea typeface="Calibri"/>
                <a:cs typeface="Calibri"/>
              </a:rPr>
              <a:t> User/ Customer Understanding</a:t>
            </a:r>
            <a:endParaRPr lang="en-US" dirty="0"/>
          </a:p>
        </p:txBody>
      </p:sp>
      <p:sp>
        <p:nvSpPr>
          <p:cNvPr id="3" name="Content Placeholder 2">
            <a:extLst>
              <a:ext uri="{FF2B5EF4-FFF2-40B4-BE49-F238E27FC236}">
                <a16:creationId xmlns:a16="http://schemas.microsoft.com/office/drawing/2014/main" id="{0A7F0759-F1BE-FAAD-BBB2-2AC231645EB3}"/>
              </a:ext>
            </a:extLst>
          </p:cNvPr>
          <p:cNvSpPr>
            <a:spLocks noGrp="1"/>
          </p:cNvSpPr>
          <p:nvPr>
            <p:ph type="body" idx="1"/>
          </p:nvPr>
        </p:nvSpPr>
        <p:spPr>
          <a:xfrm>
            <a:off x="1004160" y="1595806"/>
            <a:ext cx="10519785" cy="3790386"/>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sz="2800" dirty="0">
                <a:solidFill>
                  <a:schemeClr val="tx1"/>
                </a:solidFill>
                <a:ea typeface="Calibri"/>
                <a:cs typeface="Calibri"/>
              </a:rPr>
              <a:t>We interviewed 5 potential customers — 4 small-scale farmers and 2 vegetable buyers (Bengaluru) — and photographed each session. Photos available in GitHub documents folder.</a:t>
            </a:r>
          </a:p>
          <a:p>
            <a:pPr marL="0" indent="0">
              <a:spcBef>
                <a:spcPts val="27"/>
              </a:spcBef>
              <a:buNone/>
            </a:pPr>
            <a:endParaRPr lang="en-US" sz="2800" dirty="0">
              <a:solidFill>
                <a:schemeClr val="tx1"/>
              </a:solidFill>
              <a:ea typeface="Calibri"/>
              <a:cs typeface="Calibri"/>
            </a:endParaRP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p:txBody>
      </p:sp>
    </p:spTree>
    <p:extLst>
      <p:ext uri="{BB962C8B-B14F-4D97-AF65-F5344CB8AC3E}">
        <p14:creationId xmlns:p14="http://schemas.microsoft.com/office/powerpoint/2010/main" val="552599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E22C4-7666-AFE3-A07F-5A5D3E72C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13FFD-F5AA-B7BE-FD50-CA6734509EDB}"/>
              </a:ext>
            </a:extLst>
          </p:cNvPr>
          <p:cNvSpPr>
            <a:spLocks noGrp="1"/>
          </p:cNvSpPr>
          <p:nvPr>
            <p:ph type="title"/>
          </p:nvPr>
        </p:nvSpPr>
        <p:spPr/>
        <p:txBody>
          <a:bodyPr/>
          <a:lstStyle/>
          <a:p>
            <a:r>
              <a:rPr lang="en-US" dirty="0">
                <a:ea typeface="Calibri"/>
                <a:cs typeface="Calibri"/>
              </a:rPr>
              <a:t>Ideal Customer Profile (ICP)</a:t>
            </a:r>
            <a:endParaRPr lang="en-US" dirty="0"/>
          </a:p>
        </p:txBody>
      </p:sp>
      <p:sp>
        <p:nvSpPr>
          <p:cNvPr id="3" name="Content Placeholder 2">
            <a:extLst>
              <a:ext uri="{FF2B5EF4-FFF2-40B4-BE49-F238E27FC236}">
                <a16:creationId xmlns:a16="http://schemas.microsoft.com/office/drawing/2014/main" id="{483C3445-0940-99F0-AB5E-58C8CA362A11}"/>
              </a:ext>
            </a:extLst>
          </p:cNvPr>
          <p:cNvSpPr>
            <a:spLocks noGrp="1"/>
          </p:cNvSpPr>
          <p:nvPr>
            <p:ph type="body" idx="1"/>
          </p:nvPr>
        </p:nvSpPr>
        <p:spPr>
          <a:xfrm>
            <a:off x="695400" y="1268760"/>
            <a:ext cx="10801201" cy="4320480"/>
          </a:xfrm>
        </p:spPr>
        <p:txBody>
          <a:bodyPr spcFirstLastPara="1" vert="horz" wrap="square" lIns="121920" tIns="60960" rIns="121920" bIns="60960" rtlCol="0" anchor="t" anchorCtr="0">
            <a:normAutofit lnSpcReduction="10000"/>
          </a:bodyPr>
          <a:lstStyle/>
          <a:p>
            <a:pPr marL="0" indent="0">
              <a:spcBef>
                <a:spcPts val="27"/>
              </a:spcBef>
              <a:buNone/>
            </a:pPr>
            <a:endParaRPr lang="en-US" dirty="0">
              <a:solidFill>
                <a:schemeClr val="tx1"/>
              </a:solidFill>
              <a:ea typeface="Calibri"/>
              <a:cs typeface="Calibri"/>
            </a:endParaRPr>
          </a:p>
          <a:p>
            <a:pPr marL="0" indent="0">
              <a:spcBef>
                <a:spcPts val="27"/>
              </a:spcBef>
              <a:buNone/>
            </a:pPr>
            <a:r>
              <a:rPr lang="en-US" b="1" dirty="0">
                <a:solidFill>
                  <a:schemeClr val="tx1"/>
                </a:solidFill>
              </a:rPr>
              <a:t>Demographic Profile:</a:t>
            </a:r>
          </a:p>
          <a:p>
            <a:pPr marL="0" indent="0">
              <a:spcBef>
                <a:spcPts val="27"/>
              </a:spcBef>
              <a:buNone/>
            </a:pPr>
            <a:r>
              <a:rPr lang="en-US" dirty="0">
                <a:solidFill>
                  <a:schemeClr val="tx1"/>
                </a:solidFill>
              </a:rPr>
              <a:t>Small-scale farmer, age 25–55, owning 1–5 acres in Karnataka .</a:t>
            </a:r>
          </a:p>
          <a:p>
            <a:pPr marL="0" indent="0">
              <a:spcBef>
                <a:spcPts val="27"/>
              </a:spcBef>
              <a:buNone/>
            </a:pPr>
            <a:r>
              <a:rPr lang="en-US" dirty="0">
                <a:solidFill>
                  <a:schemeClr val="tx1"/>
                </a:solidFill>
              </a:rPr>
              <a:t>Annual income Rs.1–3 lakhs. </a:t>
            </a:r>
          </a:p>
          <a:p>
            <a:pPr marL="0" indent="0">
              <a:spcBef>
                <a:spcPts val="27"/>
              </a:spcBef>
              <a:buNone/>
            </a:pPr>
            <a:r>
              <a:rPr lang="en-US" dirty="0">
                <a:solidFill>
                  <a:schemeClr val="tx1"/>
                </a:solidFill>
              </a:rPr>
              <a:t>Basic Android smartphone user. </a:t>
            </a:r>
          </a:p>
          <a:p>
            <a:pPr marL="0" indent="0">
              <a:spcBef>
                <a:spcPts val="27"/>
              </a:spcBef>
              <a:buNone/>
            </a:pPr>
            <a:r>
              <a:rPr lang="en-US" dirty="0">
                <a:solidFill>
                  <a:schemeClr val="tx1"/>
                </a:solidFill>
              </a:rPr>
              <a:t>Sells via local mandi or aggregators.</a:t>
            </a:r>
          </a:p>
          <a:p>
            <a:pPr marL="0" indent="0">
              <a:spcBef>
                <a:spcPts val="27"/>
              </a:spcBef>
              <a:buNone/>
            </a:pPr>
            <a:endParaRPr lang="en-US" b="1" dirty="0">
              <a:solidFill>
                <a:schemeClr val="tx1"/>
              </a:solidFill>
            </a:endParaRPr>
          </a:p>
          <a:p>
            <a:pPr marL="0" indent="0">
              <a:spcBef>
                <a:spcPts val="27"/>
              </a:spcBef>
              <a:buNone/>
            </a:pPr>
            <a:endParaRPr lang="en-US" b="1" dirty="0">
              <a:solidFill>
                <a:schemeClr val="tx1"/>
              </a:solidFill>
            </a:endParaRPr>
          </a:p>
          <a:p>
            <a:pPr marL="0" indent="0">
              <a:spcBef>
                <a:spcPts val="27"/>
              </a:spcBef>
              <a:buNone/>
            </a:pPr>
            <a:r>
              <a:rPr lang="en-US" b="1" dirty="0">
                <a:solidFill>
                  <a:schemeClr val="tx1"/>
                </a:solidFill>
              </a:rPr>
              <a:t>Psychographic Profile:</a:t>
            </a:r>
          </a:p>
          <a:p>
            <a:pPr marL="0" indent="0">
              <a:spcBef>
                <a:spcPts val="27"/>
              </a:spcBef>
              <a:buNone/>
            </a:pPr>
            <a:r>
              <a:rPr lang="en-US" dirty="0">
                <a:solidFill>
                  <a:schemeClr val="tx1"/>
                </a:solidFill>
              </a:rPr>
              <a:t>Proud of produce quality but frustrated by low prices. </a:t>
            </a:r>
          </a:p>
          <a:p>
            <a:pPr marL="0" indent="0">
              <a:spcBef>
                <a:spcPts val="27"/>
              </a:spcBef>
              <a:buNone/>
            </a:pPr>
            <a:r>
              <a:rPr lang="en-US" dirty="0">
                <a:solidFill>
                  <a:schemeClr val="tx1"/>
                </a:solidFill>
              </a:rPr>
              <a:t>Practices organic/natural farming but cannot prove it to buyers.</a:t>
            </a:r>
          </a:p>
          <a:p>
            <a:pPr marL="0" indent="0">
              <a:spcBef>
                <a:spcPts val="27"/>
              </a:spcBef>
              <a:buNone/>
            </a:pPr>
            <a:r>
              <a:rPr lang="en-US" dirty="0">
                <a:solidFill>
                  <a:schemeClr val="tx1"/>
                </a:solidFill>
              </a:rPr>
              <a:t> Motivated by fair income. </a:t>
            </a:r>
          </a:p>
          <a:p>
            <a:pPr marL="0" indent="0">
              <a:spcBef>
                <a:spcPts val="27"/>
              </a:spcBef>
              <a:buNone/>
            </a:pPr>
            <a:r>
              <a:rPr lang="en-US" dirty="0">
                <a:solidFill>
                  <a:schemeClr val="tx1"/>
                </a:solidFill>
              </a:rPr>
              <a:t>Open to simple digital tools that show immediate income benefit. </a:t>
            </a:r>
          </a:p>
          <a:p>
            <a:pPr marL="0" indent="0">
              <a:spcBef>
                <a:spcPts val="27"/>
              </a:spcBef>
              <a:buNone/>
            </a:pPr>
            <a:r>
              <a:rPr lang="en-US" dirty="0">
                <a:solidFill>
                  <a:schemeClr val="tx1"/>
                </a:solidFill>
              </a:rPr>
              <a:t>Distrusts middlemen.</a:t>
            </a:r>
          </a:p>
          <a:p>
            <a:pPr marL="0" indent="0">
              <a:spcBef>
                <a:spcPts val="27"/>
              </a:spcBef>
              <a:buNone/>
            </a:pP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11861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6636C-7729-37EE-3B86-F1312175D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9B525-9939-960F-B359-A89DCC475A6D}"/>
              </a:ext>
            </a:extLst>
          </p:cNvPr>
          <p:cNvSpPr>
            <a:spLocks noGrp="1"/>
          </p:cNvSpPr>
          <p:nvPr>
            <p:ph type="title"/>
          </p:nvPr>
        </p:nvSpPr>
        <p:spPr/>
        <p:txBody>
          <a:bodyPr/>
          <a:lstStyle/>
          <a:p>
            <a:r>
              <a:rPr lang="en-US" dirty="0">
                <a:ea typeface="Calibri"/>
                <a:cs typeface="Calibri"/>
              </a:rPr>
              <a:t>Customer Persona (CP)</a:t>
            </a:r>
            <a:endParaRPr lang="en-US" dirty="0"/>
          </a:p>
        </p:txBody>
      </p:sp>
      <p:sp>
        <p:nvSpPr>
          <p:cNvPr id="3" name="Content Placeholder 2">
            <a:extLst>
              <a:ext uri="{FF2B5EF4-FFF2-40B4-BE49-F238E27FC236}">
                <a16:creationId xmlns:a16="http://schemas.microsoft.com/office/drawing/2014/main" id="{A7186C9A-5673-235A-9BD4-3F585055F21B}"/>
              </a:ext>
            </a:extLst>
          </p:cNvPr>
          <p:cNvSpPr>
            <a:spLocks noGrp="1"/>
          </p:cNvSpPr>
          <p:nvPr>
            <p:ph type="body" idx="1"/>
          </p:nvPr>
        </p:nvSpPr>
        <p:spPr>
          <a:xfrm>
            <a:off x="695400" y="1773935"/>
            <a:ext cx="10801201" cy="3796685"/>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rPr>
              <a:t>Name: Ravi Kumar (fictitious) | Age: 38 | Location: Kolar, Karnataka</a:t>
            </a:r>
          </a:p>
          <a:p>
            <a:pPr marL="0" indent="0">
              <a:spcBef>
                <a:spcPts val="27"/>
              </a:spcBef>
              <a:buNone/>
            </a:pPr>
            <a:r>
              <a:rPr lang="en-US" b="1" dirty="0">
                <a:solidFill>
                  <a:schemeClr val="tx1"/>
                </a:solidFill>
              </a:rPr>
              <a:t>Demographic: </a:t>
            </a:r>
            <a:r>
              <a:rPr lang="en-US" dirty="0">
                <a:solidFill>
                  <a:schemeClr val="tx1"/>
                </a:solidFill>
              </a:rPr>
              <a:t>3-acre tomato &amp; chilli farmer. 10th standard education. Android user (WhatsApp). Sells to local aggregator. Annual income ~Rs.1.8 lakhs.</a:t>
            </a:r>
          </a:p>
          <a:p>
            <a:pPr marL="0" indent="0">
              <a:spcBef>
                <a:spcPts val="27"/>
              </a:spcBef>
              <a:buNone/>
            </a:pPr>
            <a:endParaRPr lang="en-US" b="1" dirty="0">
              <a:solidFill>
                <a:schemeClr val="tx1"/>
              </a:solidFill>
            </a:endParaRPr>
          </a:p>
          <a:p>
            <a:pPr marL="0" indent="0">
              <a:spcBef>
                <a:spcPts val="27"/>
              </a:spcBef>
              <a:buNone/>
            </a:pPr>
            <a:endParaRPr lang="en-US" b="1" dirty="0">
              <a:solidFill>
                <a:schemeClr val="tx1"/>
              </a:solidFill>
            </a:endParaRPr>
          </a:p>
          <a:p>
            <a:pPr marL="0" indent="0">
              <a:spcBef>
                <a:spcPts val="27"/>
              </a:spcBef>
              <a:buNone/>
            </a:pPr>
            <a:r>
              <a:rPr lang="en-US" b="1" dirty="0">
                <a:solidFill>
                  <a:schemeClr val="tx1"/>
                </a:solidFill>
              </a:rPr>
              <a:t>Psychographic: </a:t>
            </a:r>
            <a:r>
              <a:rPr lang="en-US" dirty="0">
                <a:solidFill>
                  <a:schemeClr val="tx1"/>
                </a:solidFill>
              </a:rPr>
              <a:t>Hardworking and quality-conscious. Frustrated that buyers don’t trust his organic claims. Gets Rs.8/kg when organic shops sell the same tomatoes for Rs.14/kg. Would use FarmTrace if it helps him prove quality and earn a fair price.</a:t>
            </a:r>
          </a:p>
          <a:p>
            <a:pPr marL="0" indent="0">
              <a:spcBef>
                <a:spcPts val="27"/>
              </a:spcBef>
              <a:buNone/>
            </a:pPr>
            <a:endParaRPr lang="en-US" dirty="0">
              <a:solidFill>
                <a:schemeClr val="tx1"/>
              </a:solidFill>
            </a:endParaRPr>
          </a:p>
          <a:p>
            <a:pPr marL="0" indent="0">
              <a:spcBef>
                <a:spcPts val="27"/>
              </a:spcBef>
              <a:buNone/>
            </a:pPr>
            <a:endParaRPr lang="en-US" dirty="0"/>
          </a:p>
          <a:p>
            <a:pPr marL="0" indent="0">
              <a:spcBef>
                <a:spcPts val="27"/>
              </a:spcBef>
              <a:buNone/>
            </a:pPr>
            <a:endParaRPr lang="en-US" dirty="0"/>
          </a:p>
          <a:p>
            <a:pPr marL="0" indent="0">
              <a:spcBef>
                <a:spcPts val="27"/>
              </a:spcBef>
              <a:buNone/>
            </a:pPr>
            <a:endParaRPr lang="en-US" dirty="0"/>
          </a:p>
        </p:txBody>
      </p:sp>
    </p:spTree>
    <p:extLst>
      <p:ext uri="{BB962C8B-B14F-4D97-AF65-F5344CB8AC3E}">
        <p14:creationId xmlns:p14="http://schemas.microsoft.com/office/powerpoint/2010/main" val="88019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5D599-550D-934B-834C-4B89AA626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FA05-49D5-8965-5B47-01BD88A22691}"/>
              </a:ext>
            </a:extLst>
          </p:cNvPr>
          <p:cNvSpPr>
            <a:spLocks noGrp="1"/>
          </p:cNvSpPr>
          <p:nvPr>
            <p:ph type="title"/>
          </p:nvPr>
        </p:nvSpPr>
        <p:spPr/>
        <p:txBody>
          <a:bodyPr/>
          <a:lstStyle/>
          <a:p>
            <a:r>
              <a:rPr lang="en-US" dirty="0">
                <a:ea typeface="Calibri"/>
                <a:cs typeface="Calibri"/>
              </a:rPr>
              <a:t> Product USP</a:t>
            </a:r>
            <a:endParaRPr lang="en-US" dirty="0"/>
          </a:p>
        </p:txBody>
      </p:sp>
      <p:sp>
        <p:nvSpPr>
          <p:cNvPr id="3" name="Content Placeholder 2">
            <a:extLst>
              <a:ext uri="{FF2B5EF4-FFF2-40B4-BE49-F238E27FC236}">
                <a16:creationId xmlns:a16="http://schemas.microsoft.com/office/drawing/2014/main" id="{1ED32972-71CF-5F3C-FC9D-E36A0D2D508F}"/>
              </a:ext>
            </a:extLst>
          </p:cNvPr>
          <p:cNvSpPr>
            <a:spLocks noGrp="1"/>
          </p:cNvSpPr>
          <p:nvPr>
            <p:ph type="body" idx="1"/>
          </p:nvPr>
        </p:nvSpPr>
        <p:spPr>
          <a:xfrm>
            <a:off x="695399" y="1352829"/>
            <a:ext cx="10915075" cy="4001223"/>
          </a:xfrm>
        </p:spPr>
        <p:txBody>
          <a:bodyPr spcFirstLastPara="1" vert="horz" wrap="square" lIns="121920" tIns="60960" rIns="121920" bIns="60960" rtlCol="0" anchor="t" anchorCtr="0">
            <a:normAutofit lnSpcReduction="10000"/>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rPr>
              <a:t>•  Zero cost to farmer runs entirely on free-tier cloud; no hardware or subscription fees unlike expensive blockchain traceability systems</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No app download needed  buyer scans QR with any phone camera and sees full product history instantly in a browser</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Farmer registers a batch in under 2 minutes designed for low digital literacy; works on any basic Android phone</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Provides verifiable proof of organic farming and origin helps farmers earn 15–20% higher prices by building buyer trust</a:t>
            </a:r>
          </a:p>
          <a:p>
            <a:pPr marL="0" indent="0">
              <a:spcBef>
                <a:spcPts val="27"/>
              </a:spcBef>
              <a:buNone/>
            </a:pP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076672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565F-E02D-F94D-F107-CD2878B80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43AFC-E9B9-CA66-D2C9-C42DE2F1DFA4}"/>
              </a:ext>
            </a:extLst>
          </p:cNvPr>
          <p:cNvSpPr>
            <a:spLocks noGrp="1"/>
          </p:cNvSpPr>
          <p:nvPr>
            <p:ph type="title"/>
          </p:nvPr>
        </p:nvSpPr>
        <p:spPr>
          <a:xfrm>
            <a:off x="695400" y="395786"/>
            <a:ext cx="7045685" cy="838202"/>
          </a:xfrm>
        </p:spPr>
        <p:txBody>
          <a:bodyPr/>
          <a:lstStyle/>
          <a:p>
            <a:r>
              <a:rPr lang="en-US" dirty="0">
                <a:ea typeface="Calibri"/>
                <a:cs typeface="Calibri"/>
              </a:rPr>
              <a:t> Use Cases &amp; High level Requirements</a:t>
            </a:r>
            <a:endParaRPr lang="en-US" dirty="0"/>
          </a:p>
        </p:txBody>
      </p:sp>
      <p:sp>
        <p:nvSpPr>
          <p:cNvPr id="3" name="Content Placeholder 2">
            <a:extLst>
              <a:ext uri="{FF2B5EF4-FFF2-40B4-BE49-F238E27FC236}">
                <a16:creationId xmlns:a16="http://schemas.microsoft.com/office/drawing/2014/main" id="{CCFAADE7-0B30-77FD-7C8B-41A1B856FBAA}"/>
              </a:ext>
            </a:extLst>
          </p:cNvPr>
          <p:cNvSpPr>
            <a:spLocks noGrp="1"/>
          </p:cNvSpPr>
          <p:nvPr>
            <p:ph type="body" idx="1"/>
          </p:nvPr>
        </p:nvSpPr>
        <p:spPr>
          <a:xfrm>
            <a:off x="695399" y="1328767"/>
            <a:ext cx="10999296" cy="4289980"/>
          </a:xfrm>
        </p:spPr>
        <p:txBody>
          <a:bodyPr spcFirstLastPara="1" vert="horz" wrap="square" lIns="121920" tIns="60960" rIns="121920" bIns="60960" rtlCol="0" anchor="t" anchorCtr="0">
            <a:normAutofit fontScale="92500" lnSpcReduction="10000"/>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ea typeface="Calibri"/>
                <a:cs typeface="Calibri"/>
              </a:rPr>
              <a:t>UC1: Farmer registers batch — Input: crop name, village, harvest date, method | Output: unique QR code generated instantly</a:t>
            </a:r>
          </a:p>
          <a:p>
            <a:pPr marL="0" indent="0">
              <a:spcBef>
                <a:spcPts val="27"/>
              </a:spcBef>
              <a:buNone/>
            </a:pPr>
            <a:r>
              <a:rPr lang="en-US" dirty="0">
                <a:solidFill>
                  <a:schemeClr val="tx1"/>
                </a:solidFill>
                <a:ea typeface="Calibri"/>
                <a:cs typeface="Calibri"/>
              </a:rPr>
              <a:t>UC2: Buyer scans QR — Input: phone camera scan | Output: full product page (origin, date, method, timeline) in browser — no app needed</a:t>
            </a:r>
          </a:p>
          <a:p>
            <a:pPr marL="0" indent="0">
              <a:spcBef>
                <a:spcPts val="27"/>
              </a:spcBef>
              <a:buNone/>
            </a:pPr>
            <a:r>
              <a:rPr lang="en-US" dirty="0">
                <a:solidFill>
                  <a:schemeClr val="tx1"/>
                </a:solidFill>
                <a:ea typeface="Calibri"/>
                <a:cs typeface="Calibri"/>
              </a:rPr>
              <a:t>UC3: Aggregator adds handling event — Input: batch ID + event description + date | Output: updated journey timeline visible to all buyers</a:t>
            </a:r>
          </a:p>
          <a:p>
            <a:pPr marL="0" indent="0">
              <a:spcBef>
                <a:spcPts val="27"/>
              </a:spcBef>
              <a:buNone/>
            </a:pPr>
            <a:r>
              <a:rPr lang="en-US" dirty="0">
                <a:solidFill>
                  <a:schemeClr val="tx1"/>
                </a:solidFill>
                <a:ea typeface="Calibri"/>
                <a:cs typeface="Calibri"/>
              </a:rPr>
              <a:t>UC4: Farmer shares QR on WhatsApp — Input: screenshot of QR | Output: buyer taps link, views product history, places order with confidence</a:t>
            </a:r>
          </a:p>
          <a:p>
            <a:pPr marL="0" indent="0">
              <a:spcBef>
                <a:spcPts val="27"/>
              </a:spcBef>
              <a:buNone/>
            </a:pPr>
            <a:r>
              <a:rPr lang="en-US" dirty="0">
                <a:solidFill>
                  <a:schemeClr val="tx1"/>
                </a:solidFill>
                <a:ea typeface="Calibri"/>
                <a:cs typeface="Calibri"/>
              </a:rPr>
              <a:t>UC5: Exporter verifies organic batch — Input: QR scan on received crate | Output: confirmed organic method + farm origin — approves premium pricing</a:t>
            </a:r>
          </a:p>
          <a:p>
            <a:pPr marL="0" indent="0">
              <a:spcBef>
                <a:spcPts val="27"/>
              </a:spcBef>
              <a:buNone/>
            </a:pPr>
            <a:endParaRPr lang="en-US" dirty="0">
              <a:solidFill>
                <a:schemeClr val="tx1"/>
              </a:solidFill>
              <a:ea typeface="Calibri"/>
              <a:cs typeface="Calibri"/>
            </a:endParaRPr>
          </a:p>
          <a:p>
            <a:pPr marL="0" indent="0">
              <a:spcBef>
                <a:spcPts val="27"/>
              </a:spcBef>
              <a:buNone/>
            </a:pPr>
            <a:r>
              <a:rPr lang="en-US" dirty="0">
                <a:solidFill>
                  <a:schemeClr val="tx1"/>
                </a:solidFill>
                <a:ea typeface="Calibri"/>
                <a:cs typeface="Calibri"/>
              </a:rPr>
              <a:t>Requirements document available on GitHub — includes Functional Requirements , Non-Functional Requirements (performance, cost, usability), and Acceptance Criteria for each feature.</a:t>
            </a: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29874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E1081-ED83-5A03-3AF1-E77B4D789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6EBF3-B90A-D780-71A8-0F6F74206D5D}"/>
              </a:ext>
            </a:extLst>
          </p:cNvPr>
          <p:cNvSpPr>
            <a:spLocks noGrp="1"/>
          </p:cNvSpPr>
          <p:nvPr>
            <p:ph type="title"/>
          </p:nvPr>
        </p:nvSpPr>
        <p:spPr>
          <a:xfrm>
            <a:off x="695400" y="395786"/>
            <a:ext cx="7045685" cy="838202"/>
          </a:xfrm>
        </p:spPr>
        <p:txBody>
          <a:bodyPr/>
          <a:lstStyle/>
          <a:p>
            <a:r>
              <a:rPr lang="en-US" dirty="0">
                <a:ea typeface="Calibri"/>
                <a:cs typeface="Calibri"/>
              </a:rPr>
              <a:t> Proof of Concept (PoC) / Prototype Demo</a:t>
            </a:r>
            <a:endParaRPr lang="en-US" dirty="0"/>
          </a:p>
        </p:txBody>
      </p:sp>
      <p:sp>
        <p:nvSpPr>
          <p:cNvPr id="3" name="Content Placeholder 2">
            <a:extLst>
              <a:ext uri="{FF2B5EF4-FFF2-40B4-BE49-F238E27FC236}">
                <a16:creationId xmlns:a16="http://schemas.microsoft.com/office/drawing/2014/main" id="{56B1E6CD-28A4-0547-FCFA-8E8B38A76F9D}"/>
              </a:ext>
            </a:extLst>
          </p:cNvPr>
          <p:cNvSpPr>
            <a:spLocks noGrp="1"/>
          </p:cNvSpPr>
          <p:nvPr>
            <p:ph type="body" idx="1"/>
          </p:nvPr>
        </p:nvSpPr>
        <p:spPr>
          <a:xfrm>
            <a:off x="563053" y="1376892"/>
            <a:ext cx="10999294" cy="4049349"/>
          </a:xfrm>
        </p:spPr>
        <p:txBody>
          <a:bodyPr spcFirstLastPara="1" vert="horz" wrap="square" lIns="121920" tIns="60960" rIns="121920" bIns="60960" rtlCol="0" anchor="t" anchorCtr="0">
            <a:normAutofit/>
          </a:bodyPr>
          <a:lstStyle/>
          <a:p>
            <a:pPr marL="0" indent="0">
              <a:spcBef>
                <a:spcPts val="27"/>
              </a:spcBef>
              <a:buNone/>
            </a:pPr>
            <a:r>
              <a:rPr lang="en-US" dirty="0">
                <a:solidFill>
                  <a:schemeClr val="tx1"/>
                </a:solidFill>
                <a:ea typeface="Calibri"/>
                <a:cs typeface="Calibri"/>
              </a:rPr>
              <a:t>https://</a:t>
            </a:r>
            <a:r>
              <a:rPr lang="en-US" dirty="0" err="1">
                <a:solidFill>
                  <a:schemeClr val="tx1"/>
                </a:solidFill>
                <a:ea typeface="Calibri"/>
                <a:cs typeface="Calibri"/>
              </a:rPr>
              <a:t>github.com</a:t>
            </a:r>
            <a:r>
              <a:rPr lang="en-US" dirty="0">
                <a:solidFill>
                  <a:schemeClr val="tx1"/>
                </a:solidFill>
                <a:ea typeface="Calibri"/>
                <a:cs typeface="Calibri"/>
              </a:rPr>
              <a:t>/</a:t>
            </a:r>
            <a:r>
              <a:rPr lang="en-US" dirty="0" err="1">
                <a:solidFill>
                  <a:schemeClr val="tx1"/>
                </a:solidFill>
                <a:ea typeface="Calibri"/>
                <a:cs typeface="Calibri"/>
              </a:rPr>
              <a:t>Sanjanarprasad</a:t>
            </a:r>
            <a:r>
              <a:rPr lang="en-US" dirty="0">
                <a:solidFill>
                  <a:schemeClr val="tx1"/>
                </a:solidFill>
                <a:ea typeface="Calibri"/>
                <a:cs typeface="Calibri"/>
              </a:rPr>
              <a:t>/</a:t>
            </a:r>
            <a:r>
              <a:rPr lang="en-US" dirty="0" err="1">
                <a:solidFill>
                  <a:schemeClr val="tx1"/>
                </a:solidFill>
                <a:ea typeface="Calibri"/>
                <a:cs typeface="Calibri"/>
              </a:rPr>
              <a:t>Supply_chain</a:t>
            </a:r>
            <a:r>
              <a:rPr lang="en-US" dirty="0">
                <a:solidFill>
                  <a:schemeClr val="tx1"/>
                </a:solidFill>
                <a:ea typeface="Calibri"/>
                <a:cs typeface="Calibri"/>
              </a:rPr>
              <a:t>/blob/main/docs/demo.mp4</a:t>
            </a:r>
          </a:p>
        </p:txBody>
      </p:sp>
    </p:spTree>
    <p:extLst>
      <p:ext uri="{BB962C8B-B14F-4D97-AF65-F5344CB8AC3E}">
        <p14:creationId xmlns:p14="http://schemas.microsoft.com/office/powerpoint/2010/main" val="265631276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2538</TotalTime>
  <Words>790</Words>
  <Application>Microsoft Macintosh PowerPoint</Application>
  <PresentationFormat>Widescreen</PresentationFormat>
  <Paragraphs>103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Roboto Medium</vt:lpstr>
      <vt:lpstr>Times New Roman</vt:lpstr>
      <vt:lpstr>1_Office Theme</vt:lpstr>
      <vt:lpstr>PowerPoint Presentation</vt:lpstr>
      <vt:lpstr>Team members &amp; roles</vt:lpstr>
      <vt:lpstr> Modified Problem Statement</vt:lpstr>
      <vt:lpstr> User/ Customer Understanding</vt:lpstr>
      <vt:lpstr>Ideal Customer Profile (ICP)</vt:lpstr>
      <vt:lpstr>Customer Persona (CP)</vt:lpstr>
      <vt:lpstr> Product USP</vt:lpstr>
      <vt:lpstr> Use Cases &amp; High level Requirements</vt:lpstr>
      <vt:lpstr> Proof of Concept (PoC) / Prototype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Ramaraj Sri</dc:creator>
  <cp:lastModifiedBy>NISHA YADAV</cp:lastModifiedBy>
  <cp:revision>5</cp:revision>
  <cp:lastPrinted>2026-03-28T03:18:39Z</cp:lastPrinted>
  <dcterms:created xsi:type="dcterms:W3CDTF">2025-09-17T04:00:39Z</dcterms:created>
  <dcterms:modified xsi:type="dcterms:W3CDTF">2026-03-28T05:16:16Z</dcterms:modified>
</cp:coreProperties>
</file>